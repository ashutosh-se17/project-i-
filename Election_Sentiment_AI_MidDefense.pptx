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8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893"/>
          </a:solidFill>
        </p:spPr>
      </p:sp>
      <p:sp>
        <p:nvSpPr>
          <p:cNvPr id="3" name="Shape 1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4" name="Text 2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D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PROJECT DEFENSE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Sentiment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3794760"/>
            <a:ext cx="8961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NLP analysis of political discourse to estimate candidate standing across Nepali election races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5623560"/>
            <a:ext cx="10607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YouTube Data API v3   ·   Backend: Flask + Python NLP pipeline   ·   Geo: Folium / Nepal district GeoJSON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analyze election sentiment from social data?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3893"/>
          </a:solidFill>
        </p:spPr>
      </p:sp>
      <p:sp>
        <p:nvSpPr>
          <p:cNvPr id="6" name="Text 4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signal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9718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opinion on candidates is scattered across thousands of YouTube comments in English, Nepali, and romanized Nepali — too much volume to read manually.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3893"/>
          </a:solidFill>
        </p:spPr>
      </p:sp>
      <p:sp>
        <p:nvSpPr>
          <p:cNvPr id="11" name="Text 9"/>
          <p:cNvSpPr/>
          <p:nvPr/>
        </p:nvSpPr>
        <p:spPr>
          <a:xfrm>
            <a:off x="4663440" y="21488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tracking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29718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lightweight, candidate-specific tool that continuously converts raw discourse into a comparable, structured sentiment signal.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8102E"/>
          </a:solidFill>
        </p:spPr>
      </p:sp>
      <p:sp>
        <p:nvSpPr>
          <p:cNvPr id="16" name="Text 14"/>
          <p:cNvSpPr/>
          <p:nvPr/>
        </p:nvSpPr>
        <p:spPr>
          <a:xfrm>
            <a:off x="8503920" y="21488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283464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3429000"/>
            <a:ext cx="29718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pipeline that fetches live comments per candidate, scores sentiment with a rule-based NLP engine, and visualizes standing on a probability meter and district map.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0038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039112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404872"/>
            <a:ext cx="2148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5 videos per candidate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top-level comments (≤50/video)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80360" y="2423160"/>
            <a:ext cx="685800" cy="228600"/>
          </a:xfrm>
          <a:prstGeom prst="rightArrow">
            <a:avLst/>
          </a:prstGeom>
          <a:solidFill>
            <a:srgbClr val="C4CDD5"/>
          </a:solidFill>
        </p:spPr>
      </p:sp>
      <p:sp>
        <p:nvSpPr>
          <p:cNvPr id="8" name="Shape 6"/>
          <p:cNvSpPr/>
          <p:nvPr/>
        </p:nvSpPr>
        <p:spPr>
          <a:xfrm>
            <a:off x="3154680" y="196596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039112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2404872"/>
            <a:ext cx="2148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+ fuzzy match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Scandal/symbol rules, negation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2423160"/>
            <a:ext cx="685800" cy="228600"/>
          </a:xfrm>
          <a:prstGeom prst="rightArrow">
            <a:avLst/>
          </a:prstGeom>
          <a:solidFill>
            <a:srgbClr val="C4CDD5"/>
          </a:solidFill>
        </p:spPr>
      </p:sp>
      <p:sp>
        <p:nvSpPr>
          <p:cNvPr id="12" name="Shape 10"/>
          <p:cNvSpPr/>
          <p:nvPr/>
        </p:nvSpPr>
        <p:spPr>
          <a:xfrm>
            <a:off x="5806440" y="196596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0038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039112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(app.py)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7880" y="2404872"/>
            <a:ext cx="2148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/analyze endpoint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score → win probability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83880" y="2423160"/>
            <a:ext cx="685800" cy="228600"/>
          </a:xfrm>
          <a:prstGeom prst="rightArrow">
            <a:avLst/>
          </a:prstGeom>
          <a:solidFill>
            <a:srgbClr val="C4CDD5"/>
          </a:solidFill>
        </p:spPr>
      </p:sp>
      <p:sp>
        <p:nvSpPr>
          <p:cNvPr id="16" name="Shape 14"/>
          <p:cNvSpPr/>
          <p:nvPr/>
        </p:nvSpPr>
        <p:spPr>
          <a:xfrm>
            <a:off x="8458200" y="196596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039112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(script.js)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9640" y="2404872"/>
            <a:ext cx="2148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UI · probability meter,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chart, comment table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7F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22192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District GeoJSON / Shapefile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187952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boundaries + province metadata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80360" y="4114800"/>
            <a:ext cx="685800" cy="228600"/>
          </a:xfrm>
          <a:prstGeom prst="rightArrow">
            <a:avLst/>
          </a:prstGeom>
          <a:solidFill>
            <a:srgbClr val="C4CDD5"/>
          </a:solidFill>
        </p:spPr>
      </p:sp>
      <p:sp>
        <p:nvSpPr>
          <p:cNvPr id="23" name="Shape 21"/>
          <p:cNvSpPr/>
          <p:nvPr/>
        </p:nvSpPr>
        <p:spPr>
          <a:xfrm>
            <a:off x="3154680" y="37490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7F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822192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Choropleth (generate_nepal_map.py)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4187952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interactive map as static HTML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32120" y="4114800"/>
            <a:ext cx="685800" cy="228600"/>
          </a:xfrm>
          <a:prstGeom prst="rightArrow">
            <a:avLst/>
          </a:prstGeom>
          <a:solidFill>
            <a:srgbClr val="C4CDD5"/>
          </a:solidFill>
        </p:spPr>
      </p:sp>
      <p:sp>
        <p:nvSpPr>
          <p:cNvPr id="27" name="Shape 25"/>
          <p:cNvSpPr/>
          <p:nvPr/>
        </p:nvSpPr>
        <p:spPr>
          <a:xfrm>
            <a:off x="7205472" y="3749040"/>
            <a:ext cx="914" cy="914"/>
          </a:xfrm>
          <a:prstGeom prst="rightArrow">
            <a:avLst/>
          </a:prstGeom>
          <a:noFill/>
        </p:spPr>
      </p:sp>
      <p:sp>
        <p:nvSpPr>
          <p:cNvPr id="28" name="Shape 26"/>
          <p:cNvSpPr/>
          <p:nvPr/>
        </p:nvSpPr>
        <p:spPr>
          <a:xfrm>
            <a:off x="9486900" y="3200400"/>
            <a:ext cx="274320" cy="365760"/>
          </a:xfrm>
          <a:prstGeom prst="upArrow">
            <a:avLst/>
          </a:prstGeom>
          <a:solidFill>
            <a:srgbClr val="C4CDD5"/>
          </a:solidFill>
        </p:spPr>
      </p:sp>
      <p:sp>
        <p:nvSpPr>
          <p:cNvPr id="29" name="Text 27"/>
          <p:cNvSpPr/>
          <p:nvPr/>
        </p:nvSpPr>
        <p:spPr>
          <a:xfrm>
            <a:off x="5806440" y="3749040"/>
            <a:ext cx="2331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via &lt;iframe&gt;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tracks converge in the browser: the sentiment pipeline drives the charts, while script.js swaps in a pre-rendered, candidate-specific Folium map file (balen / gagan / kp / default) based on the selected candidate.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comment gets scored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73152" cy="841248"/>
          </a:xfrm>
          <a:prstGeom prst="rect">
            <a:avLst/>
          </a:prstGeom>
          <a:solidFill>
            <a:srgbClr val="003893"/>
          </a:solidFill>
        </p:spPr>
      </p:sp>
      <p:sp>
        <p:nvSpPr>
          <p:cNvPr id="6" name="Text 4"/>
          <p:cNvSpPr/>
          <p:nvPr/>
        </p:nvSpPr>
        <p:spPr>
          <a:xfrm>
            <a:off x="777240" y="1947672"/>
            <a:ext cx="4983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scoring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834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hand-weighted terms spanning English and romanized Nepali ("bikash", "neta"), scores from -1.0 to +0.9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74520"/>
            <a:ext cx="73152" cy="841248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10" name="Text 8"/>
          <p:cNvSpPr/>
          <p:nvPr/>
        </p:nvSpPr>
        <p:spPr>
          <a:xfrm>
            <a:off x="6492240" y="1947672"/>
            <a:ext cx="4983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9834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fuzzywuzzy (85% threshold) catches misspellings and transliteration variants before lexicon lookup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80360"/>
            <a:ext cx="73152" cy="841248"/>
          </a:xfrm>
          <a:prstGeom prst="rect">
            <a:avLst/>
          </a:prstGeom>
          <a:solidFill>
            <a:srgbClr val="003893"/>
          </a:solidFill>
        </p:spPr>
      </p:sp>
      <p:sp>
        <p:nvSpPr>
          <p:cNvPr id="14" name="Text 12"/>
          <p:cNvSpPr/>
          <p:nvPr/>
        </p:nvSpPr>
        <p:spPr>
          <a:xfrm>
            <a:off x="777240" y="2953512"/>
            <a:ext cx="4983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ownership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49834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election symbols (🔔 🌞 🌳 🔨) add +1 when a candidate's own symbol appears, -1 for a rival's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63640" y="288036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880360"/>
            <a:ext cx="73152" cy="841248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18" name="Text 16"/>
          <p:cNvSpPr/>
          <p:nvPr/>
        </p:nvSpPr>
        <p:spPr>
          <a:xfrm>
            <a:off x="6492240" y="2953512"/>
            <a:ext cx="4983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Scandal keyword maps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49834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Candidate-specific controversy terms (e.g. "lalita niwas") subtract points when matched, fuzzy-tolerant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86200"/>
            <a:ext cx="73152" cy="841248"/>
          </a:xfrm>
          <a:prstGeom prst="rect">
            <a:avLst/>
          </a:prstGeom>
          <a:solidFill>
            <a:srgbClr val="003893"/>
          </a:solidFill>
        </p:spPr>
      </p:sp>
      <p:sp>
        <p:nvSpPr>
          <p:cNvPr id="22" name="Text 20"/>
          <p:cNvSpPr/>
          <p:nvPr/>
        </p:nvSpPr>
        <p:spPr>
          <a:xfrm>
            <a:off x="777240" y="3959352"/>
            <a:ext cx="4983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logic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251960"/>
            <a:ext cx="49834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"X bhanda/better than" framing to catch comments that favor a rival by comparison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263640" y="388620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886200"/>
            <a:ext cx="73152" cy="841248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26" name="Text 24"/>
          <p:cNvSpPr/>
          <p:nvPr/>
        </p:nvSpPr>
        <p:spPr>
          <a:xfrm>
            <a:off x="6492240" y="3959352"/>
            <a:ext cx="4983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+ suffix/curse checks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4251960"/>
            <a:ext cx="49834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polarity after "not/no/never"; penalizes disrespectful Nepali suffixes and profanity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aggregate score to a win-probability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03893"/>
          </a:solidFill>
        </p:spPr>
      </p:sp>
      <p:sp>
        <p:nvSpPr>
          <p:cNvPr id="5" name="Text 3"/>
          <p:cNvSpPr/>
          <p:nvPr/>
        </p:nvSpPr>
        <p:spPr>
          <a:xfrm>
            <a:off x="822960" y="205740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total_score = Σ sentiment_score(comment)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win_probability = sigmoid(total_score / 25) × 100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clamped to [0.02%, 99.98%]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4663440" cy="0"/>
          </a:xfrm>
          <a:prstGeom prst="line">
            <a:avLst/>
          </a:prstGeom>
          <a:noFill/>
          <a:ln w="12700">
            <a:solidFill>
              <a:srgbClr val="3A5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3192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4389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probability meter (%)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636008"/>
            <a:ext cx="4389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Sentiment distribution pie chart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020056"/>
            <a:ext cx="4389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Ranked sample-comment table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404104"/>
            <a:ext cx="4389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Embedded Nepal district map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7F8FA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01168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District Map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423160"/>
            <a:ext cx="5029200" cy="3246120"/>
          </a:xfrm>
          <a:prstGeom prst="roundRect">
            <a:avLst>
              <a:gd name="adj" fmla="val 1690"/>
            </a:avLst>
          </a:prstGeom>
          <a:solidFill>
            <a:srgbClr val="E8EEF9"/>
          </a:solidFill>
          <a:ln w="12700">
            <a:solidFill>
              <a:srgbClr val="00389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492240" y="3383280"/>
            <a:ext cx="46634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 (from Nep_district.geojson),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fill color per candidate — swapped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script.js on candidate selection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yet a per-district data choropleth)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completed to 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7F4C"/>
          </a:solidFill>
        </p:spPr>
      </p:sp>
      <p:sp>
        <p:nvSpPr>
          <p:cNvPr id="5" name="Text 3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856232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with /analyze endpoint wired to the sentiment engine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7F4C"/>
          </a:solidFill>
        </p:spPr>
      </p:sp>
      <p:sp>
        <p:nvSpPr>
          <p:cNvPr id="8" name="Text 6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542032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 integration — video search + comment retrieval per candidate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7F4C"/>
          </a:solidFill>
        </p:spPr>
      </p:sp>
      <p:sp>
        <p:nvSpPr>
          <p:cNvPr id="11" name="Text 9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227832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sentiment engine: lexicon, fuzzy matching, scandal/symbol maps, negation handling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7F4C"/>
          </a:solidFill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913632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Win-probability aggregation (sigmoid transform) implemented and returning live results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7F4C"/>
          </a:solidFill>
        </p:spPr>
      </p:sp>
      <p:sp>
        <p:nvSpPr>
          <p:cNvPr id="17" name="Text 15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599432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district map generated from GeoJSON/shapefile via Folium, with a candidate-specific version swapped in by script.js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7F4C"/>
          </a:solidFill>
        </p:spPr>
      </p:sp>
      <p:sp>
        <p:nvSpPr>
          <p:cNvPr id="20" name="Text 18"/>
          <p:cNvSpPr/>
          <p:nvPr/>
        </p:nvSpPr>
        <p:spPr>
          <a:xfrm>
            <a:off x="548640" y="53035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5285232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dashboard: dark-themed UI with candidate selector, probability meter, sentiment doughnut chart, comment table (Chart.js)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DF3EC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to address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8755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Displayed sample comments are currently selected to match the predicted outcome direction rather than a representative random sample — needs correction before results are presented as evidence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3234690"/>
            <a:ext cx="4937760" cy="8755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Scandal/symbol keyword maps are manually curated per candidate, which introduces subjectivity and needs validation against a broader corpus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4183380"/>
            <a:ext cx="4937760" cy="8755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District map is a single flat fill color per candidate, not yet driven by real per-district sentiment 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5132070"/>
            <a:ext cx="4937760" cy="8755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YouTube API key is currently hardcoded in source — must move to environment variables and rotate the key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EAF3E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4937760" cy="5775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Switch to representative/random comment sampling for the evidence table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918460"/>
            <a:ext cx="4937760" cy="5775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Secure the API key via environment variables; add rate-limit handling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3550920"/>
            <a:ext cx="4937760" cy="5775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Tie district map coloring to actual per-district sentiment aggregates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4183380"/>
            <a:ext cx="4937760" cy="5775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Validate win-probability output against historical or polling data where available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4815840"/>
            <a:ext cx="4937760" cy="5775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Expand lexicon coverage and test across a larger, more diverse comment sample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5448300"/>
            <a:ext cx="4937760" cy="5775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remaining candidates/districts and prepare for final deployment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4541</Words>
  <Application>WPS Presentation</Application>
  <PresentationFormat>On-screen Show (16:9)</PresentationFormat>
  <Paragraphs>193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Consolas</vt:lpstr>
      <vt:lpstr>Consolas</vt:lpstr>
      <vt:lpstr>Consolas</vt:lpstr>
      <vt:lpstr>Microsoft YaHei</vt:lpstr>
      <vt:lpstr>汉仪旗黑</vt:lpstr>
      <vt:lpstr>Arial Unicode MS</vt:lpstr>
      <vt:lpstr>Apple Color Emoji</vt:lpstr>
      <vt:lpstr>苹方-简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benju</cp:lastModifiedBy>
  <cp:revision>2</cp:revision>
  <dcterms:created xsi:type="dcterms:W3CDTF">2026-07-15T07:01:53Z</dcterms:created>
  <dcterms:modified xsi:type="dcterms:W3CDTF">2026-07-15T07:01:53Z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2337D2E60C90B8C56130576A8482D825_43</vt:lpwstr>
  </property>
  <property fmtid="{D5CDD505-2E9C-101B-9397-08002B2CF9AE}" pid="3" name="KSOProductBuildVer">
    <vt:lpwstr>1033-12.1.26015.26015</vt:lpwstr>
  </property>
</Properties>
</file>